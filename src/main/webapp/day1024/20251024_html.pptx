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666" autoAdjust="0"/>
    <p:restoredTop sz="94660"/>
  </p:normalViewPr>
  <p:slideViewPr>
    <p:cSldViewPr>
      <p:cViewPr>
        <p:scale>
          <a:sx n="150" d="100"/>
          <a:sy n="150" d="100"/>
        </p:scale>
        <p:origin x="-8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8551" y="214290"/>
            <a:ext cx="8646919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문제 </a:t>
            </a:r>
            <a:r>
              <a:rPr lang="en-US" altLang="ko-KR" dirty="0" smtClean="0"/>
              <a:t>– </a:t>
            </a:r>
          </a:p>
          <a:p>
            <a:r>
              <a:rPr lang="ko-KR" altLang="en-US" sz="1200" dirty="0" smtClean="0"/>
              <a:t>문단과 줄 변경을 동일하게 처리합니다</a:t>
            </a:r>
            <a:r>
              <a:rPr lang="en-US" altLang="ko-KR" sz="1200" dirty="0" smtClean="0"/>
              <a:t>.</a:t>
            </a:r>
          </a:p>
          <a:p>
            <a:endParaRPr lang="en-US" altLang="ko-KR" dirty="0"/>
          </a:p>
          <a:p>
            <a:r>
              <a:rPr lang="en-US" altLang="ko-KR" sz="1600" dirty="0"/>
              <a:t>[</a:t>
            </a:r>
            <a:r>
              <a:rPr lang="ko-KR" altLang="en-US" sz="1600" dirty="0"/>
              <a:t>워싱턴</a:t>
            </a:r>
            <a:r>
              <a:rPr lang="en-US" altLang="ko-KR" sz="1600" dirty="0"/>
              <a:t>=</a:t>
            </a:r>
            <a:r>
              <a:rPr lang="ko-KR" altLang="en-US" sz="1600" dirty="0" err="1"/>
              <a:t>뉴시스</a:t>
            </a:r>
            <a:r>
              <a:rPr lang="en-US" altLang="ko-KR" sz="1600" dirty="0"/>
              <a:t>] </a:t>
            </a:r>
            <a:r>
              <a:rPr lang="ko-KR" altLang="en-US" sz="1600" dirty="0"/>
              <a:t>이윤희 특파원 </a:t>
            </a:r>
            <a:r>
              <a:rPr lang="en-US" altLang="ko-KR" sz="1600" dirty="0"/>
              <a:t>= </a:t>
            </a:r>
            <a:r>
              <a:rPr lang="ko-KR" altLang="en-US" sz="1600" dirty="0" err="1"/>
              <a:t>도널드</a:t>
            </a:r>
            <a:r>
              <a:rPr lang="ko-KR" altLang="en-US" sz="1600" dirty="0"/>
              <a:t> 트럼프 미국 대통령이 오는 </a:t>
            </a:r>
            <a:r>
              <a:rPr lang="en-US" altLang="ko-KR" sz="1600" dirty="0"/>
              <a:t>29</a:t>
            </a:r>
            <a:r>
              <a:rPr lang="ko-KR" altLang="en-US" sz="1600" dirty="0"/>
              <a:t>일 한국을 </a:t>
            </a:r>
            <a:endParaRPr lang="en-US" altLang="ko-KR" sz="1600" dirty="0" smtClean="0"/>
          </a:p>
          <a:p>
            <a:r>
              <a:rPr lang="ko-KR" altLang="en-US" sz="1600" dirty="0" smtClean="0"/>
              <a:t>방문해 </a:t>
            </a:r>
            <a:r>
              <a:rPr lang="ko-KR" altLang="en-US" sz="1600" dirty="0"/>
              <a:t>이재명 대통령과 회담할 예정이라고 백악관이 </a:t>
            </a:r>
            <a:r>
              <a:rPr lang="en-US" altLang="ko-KR" sz="1600" dirty="0"/>
              <a:t>23</a:t>
            </a:r>
            <a:r>
              <a:rPr lang="ko-KR" altLang="en-US" sz="1600" dirty="0"/>
              <a:t>일</a:t>
            </a:r>
            <a:r>
              <a:rPr lang="en-US" altLang="ko-KR" sz="1600" dirty="0"/>
              <a:t>(</a:t>
            </a:r>
            <a:r>
              <a:rPr lang="ko-KR" altLang="en-US" sz="1600" dirty="0"/>
              <a:t>현지 시간</a:t>
            </a:r>
            <a:r>
              <a:rPr lang="en-US" altLang="ko-KR" sz="1600" dirty="0"/>
              <a:t>) </a:t>
            </a:r>
            <a:r>
              <a:rPr lang="ko-KR" altLang="en-US" sz="1600" dirty="0"/>
              <a:t>공식 발표했다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트럼프 대통령이 올해 </a:t>
            </a:r>
            <a:r>
              <a:rPr lang="en-US" altLang="ko-KR" sz="1600" dirty="0"/>
              <a:t>1</a:t>
            </a:r>
            <a:r>
              <a:rPr lang="ko-KR" altLang="en-US" sz="1600" dirty="0"/>
              <a:t>월 </a:t>
            </a:r>
            <a:r>
              <a:rPr lang="ko-KR" altLang="en-US" sz="1600" dirty="0" err="1"/>
              <a:t>재취임한</a:t>
            </a:r>
            <a:r>
              <a:rPr lang="ko-KR" altLang="en-US" sz="1600" dirty="0"/>
              <a:t> 후 한국 방문은 이번이 처음이다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시진핑</a:t>
            </a:r>
            <a:r>
              <a:rPr lang="ko-KR" altLang="en-US" sz="1600" dirty="0"/>
              <a:t> </a:t>
            </a:r>
            <a:endParaRPr lang="en-US" altLang="ko-KR" sz="1600" dirty="0" smtClean="0"/>
          </a:p>
          <a:p>
            <a:r>
              <a:rPr lang="ko-KR" altLang="en-US" sz="1600" dirty="0" smtClean="0"/>
              <a:t>중국 </a:t>
            </a:r>
            <a:r>
              <a:rPr lang="ko-KR" altLang="en-US" sz="1600" dirty="0"/>
              <a:t>국가주석과의 </a:t>
            </a:r>
            <a:r>
              <a:rPr lang="ko-KR" altLang="en-US" sz="1600" dirty="0" err="1"/>
              <a:t>미중</a:t>
            </a:r>
            <a:r>
              <a:rPr lang="ko-KR" altLang="en-US" sz="1600" dirty="0"/>
              <a:t> 정상회담도 </a:t>
            </a:r>
            <a:r>
              <a:rPr lang="en-US" altLang="ko-KR" sz="1600" dirty="0"/>
              <a:t>30</a:t>
            </a:r>
            <a:r>
              <a:rPr lang="ko-KR" altLang="en-US" sz="1600" dirty="0"/>
              <a:t>일 한국에서 열린다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캐럴라인 </a:t>
            </a:r>
            <a:r>
              <a:rPr lang="ko-KR" altLang="en-US" sz="1600" dirty="0" err="1"/>
              <a:t>레빗</a:t>
            </a:r>
            <a:r>
              <a:rPr lang="ko-KR" altLang="en-US" sz="1600" dirty="0"/>
              <a:t> 백악관 대변인은 이날 정례브리핑에서 </a:t>
            </a:r>
            <a:r>
              <a:rPr lang="en-US" altLang="ko-KR" sz="1600" dirty="0"/>
              <a:t>24</a:t>
            </a:r>
            <a:r>
              <a:rPr lang="ko-KR" altLang="en-US" sz="1600" dirty="0"/>
              <a:t>일부터 </a:t>
            </a:r>
            <a:r>
              <a:rPr lang="en-US" altLang="ko-KR" sz="1600" dirty="0"/>
              <a:t>30</a:t>
            </a:r>
            <a:r>
              <a:rPr lang="ko-KR" altLang="en-US" sz="1600" dirty="0"/>
              <a:t>일까지 </a:t>
            </a:r>
            <a:endParaRPr lang="en-US" altLang="ko-KR" sz="1600" dirty="0" smtClean="0"/>
          </a:p>
          <a:p>
            <a:r>
              <a:rPr lang="ko-KR" altLang="en-US" sz="1600" dirty="0" smtClean="0"/>
              <a:t>예정된 </a:t>
            </a:r>
            <a:r>
              <a:rPr lang="ko-KR" altLang="en-US" sz="1600" dirty="0"/>
              <a:t>트럼프 대통령의 아시아 순방 계획을 발표했다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err="1"/>
              <a:t>레빗</a:t>
            </a:r>
            <a:r>
              <a:rPr lang="ko-KR" altLang="en-US" sz="1600" dirty="0"/>
              <a:t> 대변인은 </a:t>
            </a:r>
            <a:r>
              <a:rPr lang="en-US" altLang="ko-KR" sz="1600" dirty="0"/>
              <a:t>"</a:t>
            </a:r>
            <a:r>
              <a:rPr lang="ko-KR" altLang="en-US" sz="1600" dirty="0"/>
              <a:t>현지시간으로 수요일</a:t>
            </a:r>
            <a:r>
              <a:rPr lang="en-US" altLang="ko-KR" sz="1600" dirty="0"/>
              <a:t>(29</a:t>
            </a:r>
            <a:r>
              <a:rPr lang="ko-KR" altLang="en-US" sz="1600" dirty="0"/>
              <a:t>일</a:t>
            </a:r>
            <a:r>
              <a:rPr lang="en-US" altLang="ko-KR" sz="1600" dirty="0"/>
              <a:t>) </a:t>
            </a:r>
            <a:r>
              <a:rPr lang="ko-KR" altLang="en-US" sz="1600" dirty="0"/>
              <a:t>아침 트럼프 대통령은 </a:t>
            </a:r>
            <a:r>
              <a:rPr lang="en-US" altLang="ko-KR" sz="1600" dirty="0"/>
              <a:t>(</a:t>
            </a:r>
            <a:r>
              <a:rPr lang="ko-KR" altLang="en-US" sz="1600" dirty="0"/>
              <a:t>일본 도쿄에서</a:t>
            </a:r>
            <a:r>
              <a:rPr lang="en-US" altLang="ko-KR" sz="1600" dirty="0"/>
              <a:t>) </a:t>
            </a:r>
            <a:r>
              <a:rPr lang="ko-KR" altLang="en-US" sz="1600" dirty="0"/>
              <a:t>부산으로 </a:t>
            </a:r>
            <a:endParaRPr lang="en-US" altLang="ko-KR" sz="1600" dirty="0" smtClean="0"/>
          </a:p>
          <a:p>
            <a:r>
              <a:rPr lang="ko-KR" altLang="en-US" sz="1600" dirty="0" smtClean="0"/>
              <a:t>비행할 </a:t>
            </a:r>
            <a:r>
              <a:rPr lang="ko-KR" altLang="en-US" sz="1600" dirty="0"/>
              <a:t>예정이며</a:t>
            </a:r>
            <a:r>
              <a:rPr lang="en-US" altLang="ko-KR" sz="1600" dirty="0"/>
              <a:t>, </a:t>
            </a:r>
            <a:r>
              <a:rPr lang="ko-KR" altLang="en-US" sz="1600" dirty="0"/>
              <a:t>그곳에서 한국 대통령과 양자회담에 참여할 예정</a:t>
            </a:r>
            <a:r>
              <a:rPr lang="en-US" altLang="ko-KR" sz="1600" dirty="0"/>
              <a:t>"</a:t>
            </a:r>
            <a:r>
              <a:rPr lang="ko-KR" altLang="en-US" sz="1600" dirty="0"/>
              <a:t>이라고 말했다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또한 같은 날 </a:t>
            </a:r>
            <a:r>
              <a:rPr lang="en-US" altLang="ko-KR" sz="1600" dirty="0"/>
              <a:t>"</a:t>
            </a:r>
            <a:r>
              <a:rPr lang="ko-KR" altLang="en-US" sz="1600" dirty="0"/>
              <a:t>아시아태평양경제협력체</a:t>
            </a:r>
            <a:r>
              <a:rPr lang="en-US" altLang="ko-KR" sz="1600" dirty="0"/>
              <a:t>(APEC) </a:t>
            </a:r>
            <a:r>
              <a:rPr lang="ko-KR" altLang="en-US" sz="1600" dirty="0"/>
              <a:t>최고경영자</a:t>
            </a:r>
            <a:r>
              <a:rPr lang="en-US" altLang="ko-KR" sz="1600" dirty="0"/>
              <a:t>(CEO) </a:t>
            </a:r>
            <a:r>
              <a:rPr lang="ko-KR" altLang="en-US" sz="1600" dirty="0"/>
              <a:t>오찬에서 기조연설을 </a:t>
            </a:r>
            <a:r>
              <a:rPr lang="ko-KR" altLang="en-US" sz="1600" dirty="0" smtClean="0"/>
              <a:t>진행</a:t>
            </a:r>
            <a:endParaRPr lang="en-US" altLang="ko-KR" sz="1600" dirty="0" smtClean="0"/>
          </a:p>
          <a:p>
            <a:r>
              <a:rPr lang="ko-KR" altLang="en-US" sz="1600" dirty="0" smtClean="0"/>
              <a:t>하고</a:t>
            </a:r>
            <a:r>
              <a:rPr lang="en-US" altLang="ko-KR" sz="1600" dirty="0"/>
              <a:t>, </a:t>
            </a:r>
            <a:r>
              <a:rPr lang="ko-KR" altLang="en-US" sz="1600" dirty="0"/>
              <a:t>미</a:t>
            </a:r>
            <a:r>
              <a:rPr lang="en-US" altLang="ko-KR" sz="1600" dirty="0"/>
              <a:t>·APEC </a:t>
            </a:r>
            <a:r>
              <a:rPr lang="ko-KR" altLang="en-US" sz="1600" dirty="0"/>
              <a:t>정상 만찬에도 참여한다</a:t>
            </a:r>
            <a:r>
              <a:rPr lang="en-US" altLang="ko-KR" sz="1600" dirty="0"/>
              <a:t>"</a:t>
            </a:r>
            <a:r>
              <a:rPr lang="ko-KR" altLang="en-US" sz="1600" dirty="0"/>
              <a:t>고 설명했다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다만 </a:t>
            </a:r>
            <a:r>
              <a:rPr lang="en-US" altLang="ko-KR" sz="1600" dirty="0"/>
              <a:t>APEC </a:t>
            </a:r>
            <a:r>
              <a:rPr lang="ko-KR" altLang="en-US" sz="1600" dirty="0"/>
              <a:t>정상회의는 부산이 아니라 경주에서 오는 </a:t>
            </a:r>
            <a:r>
              <a:rPr lang="en-US" altLang="ko-KR" sz="1600" dirty="0"/>
              <a:t>30</a:t>
            </a:r>
            <a:r>
              <a:rPr lang="ko-KR" altLang="en-US" sz="1600" dirty="0"/>
              <a:t>일부터 열린다</a:t>
            </a:r>
            <a:r>
              <a:rPr lang="en-US" altLang="ko-KR" sz="1600" dirty="0"/>
              <a:t>. </a:t>
            </a:r>
            <a:r>
              <a:rPr lang="ko-KR" altLang="en-US" sz="1600" dirty="0"/>
              <a:t>이에 따라 정상회담 </a:t>
            </a:r>
            <a:endParaRPr lang="en-US" altLang="ko-KR" sz="1600" dirty="0" smtClean="0"/>
          </a:p>
          <a:p>
            <a:r>
              <a:rPr lang="ko-KR" altLang="en-US" sz="1600" dirty="0" smtClean="0"/>
              <a:t>및 </a:t>
            </a:r>
            <a:r>
              <a:rPr lang="ko-KR" altLang="en-US" sz="1600" dirty="0"/>
              <a:t>제반 행사도 경주에서 진행될 예정이다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211625" y="1000108"/>
            <a:ext cx="12144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2425939" y="2000240"/>
            <a:ext cx="242889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3140319" y="3455988"/>
            <a:ext cx="214314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140451" y="4643446"/>
            <a:ext cx="157163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8" idx="2"/>
          </p:cNvCxnSpPr>
          <p:nvPr/>
        </p:nvCxnSpPr>
        <p:spPr>
          <a:xfrm rot="5400000">
            <a:off x="3780279" y="50254"/>
            <a:ext cx="381332" cy="1375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54765" y="285728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진하게</a:t>
            </a:r>
            <a:endParaRPr lang="ko-KR" altLang="en-US" sz="1100" dirty="0"/>
          </a:p>
        </p:txBody>
      </p:sp>
      <p:cxnSp>
        <p:nvCxnSpPr>
          <p:cNvPr id="20" name="직선 화살표 연결선 19"/>
          <p:cNvCxnSpPr>
            <a:stCxn id="18" idx="2"/>
          </p:cNvCxnSpPr>
          <p:nvPr/>
        </p:nvCxnSpPr>
        <p:spPr>
          <a:xfrm rot="5400000">
            <a:off x="3494527" y="836072"/>
            <a:ext cx="1452902" cy="8754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5400000">
            <a:off x="3176038" y="1964521"/>
            <a:ext cx="285752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8" idx="2"/>
          </p:cNvCxnSpPr>
          <p:nvPr/>
        </p:nvCxnSpPr>
        <p:spPr>
          <a:xfrm rot="16200000" flipH="1">
            <a:off x="2780147" y="2425886"/>
            <a:ext cx="4024670" cy="26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711427" y="2447918"/>
            <a:ext cx="257176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1472" y="2214554"/>
            <a:ext cx="23855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진하게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빨간색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글자크기 </a:t>
            </a:r>
            <a:r>
              <a:rPr lang="en-US" altLang="ko-KR" sz="1100" dirty="0" smtClean="0"/>
              <a:t>4, </a:t>
            </a:r>
            <a:r>
              <a:rPr lang="ko-KR" altLang="en-US" sz="1100" dirty="0" smtClean="0"/>
              <a:t>궁서체</a:t>
            </a:r>
            <a:endParaRPr lang="ko-KR" altLang="en-US" sz="1100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3786182" y="1000108"/>
            <a:ext cx="135732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rot="10800000" flipV="1">
            <a:off x="5000628" y="571480"/>
            <a:ext cx="64294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572132" y="42860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크게</a:t>
            </a:r>
            <a:endParaRPr lang="ko-KR" altLang="en-US" sz="1100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5857884" y="3929066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4480" y="5143512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/>
              <a:t>아랫</a:t>
            </a:r>
            <a:r>
              <a:rPr lang="ko-KR" altLang="en-US" sz="1100" dirty="0" smtClean="0"/>
              <a:t> 첨자</a:t>
            </a:r>
            <a:endParaRPr lang="ko-KR" altLang="en-US" sz="1100" dirty="0"/>
          </a:p>
        </p:txBody>
      </p:sp>
      <p:cxnSp>
        <p:nvCxnSpPr>
          <p:cNvPr id="41" name="직선 연결선 40"/>
          <p:cNvCxnSpPr/>
          <p:nvPr/>
        </p:nvCxnSpPr>
        <p:spPr>
          <a:xfrm>
            <a:off x="928662" y="5141924"/>
            <a:ext cx="242889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1214414" y="4357694"/>
            <a:ext cx="164307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571604" y="435769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밑줄</a:t>
            </a:r>
            <a:endParaRPr lang="ko-KR" altLang="en-US" sz="1100" dirty="0"/>
          </a:p>
        </p:txBody>
      </p:sp>
      <p:cxnSp>
        <p:nvCxnSpPr>
          <p:cNvPr id="46" name="직선 연결선 45"/>
          <p:cNvCxnSpPr/>
          <p:nvPr/>
        </p:nvCxnSpPr>
        <p:spPr>
          <a:xfrm>
            <a:off x="7000892" y="1947852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72330" y="192880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/>
              <a:t>형광펜</a:t>
            </a:r>
            <a:r>
              <a:rPr lang="ko-KR" altLang="en-US" sz="1100" dirty="0" smtClean="0"/>
              <a:t> 효과</a:t>
            </a:r>
            <a:endParaRPr lang="ko-KR" altLang="en-US" sz="1100" dirty="0"/>
          </a:p>
        </p:txBody>
      </p:sp>
      <p:cxnSp>
        <p:nvCxnSpPr>
          <p:cNvPr id="49" name="직선 연결선 48"/>
          <p:cNvCxnSpPr/>
          <p:nvPr/>
        </p:nvCxnSpPr>
        <p:spPr>
          <a:xfrm>
            <a:off x="7358082" y="4143380"/>
            <a:ext cx="78581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286644" y="4143380"/>
            <a:ext cx="15840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취소선 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오찬연설으로</a:t>
            </a:r>
            <a:endParaRPr lang="ko-KR" altLang="en-US" sz="1100" dirty="0"/>
          </a:p>
        </p:txBody>
      </p:sp>
      <p:cxnSp>
        <p:nvCxnSpPr>
          <p:cNvPr id="54" name="직선 연결선 53"/>
          <p:cNvCxnSpPr/>
          <p:nvPr/>
        </p:nvCxnSpPr>
        <p:spPr>
          <a:xfrm>
            <a:off x="4071934" y="2500306"/>
            <a:ext cx="10001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00628" y="2214554"/>
            <a:ext cx="1111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이탤릭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진하게</a:t>
            </a:r>
            <a:endParaRPr lang="ko-KR" altLang="en-US" sz="1100" dirty="0"/>
          </a:p>
        </p:txBody>
      </p:sp>
      <p:cxnSp>
        <p:nvCxnSpPr>
          <p:cNvPr id="57" name="직선 화살표 연결선 56"/>
          <p:cNvCxnSpPr>
            <a:stCxn id="55" idx="1"/>
          </p:cNvCxnSpPr>
          <p:nvPr/>
        </p:nvCxnSpPr>
        <p:spPr>
          <a:xfrm rot="10800000" flipV="1">
            <a:off x="4857752" y="2345358"/>
            <a:ext cx="142876" cy="1549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6786578" y="3214686"/>
            <a:ext cx="12144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00826" y="2928934"/>
            <a:ext cx="25266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진하게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파란색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글자크기 </a:t>
            </a:r>
            <a:r>
              <a:rPr lang="en-US" altLang="ko-KR" sz="1100" dirty="0" smtClean="0"/>
              <a:t>2,</a:t>
            </a:r>
            <a:r>
              <a:rPr lang="ko-KR" altLang="en-US" sz="1100" dirty="0" smtClean="0"/>
              <a:t>맑은 고딕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6242415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*h tag : </a:t>
            </a:r>
            <a:r>
              <a:rPr lang="ko-KR" altLang="en-US" dirty="0" smtClean="0"/>
              <a:t>글 목록을 만들 때 사용</a:t>
            </a:r>
            <a:r>
              <a:rPr lang="en-US" altLang="ko-KR" dirty="0" smtClean="0"/>
              <a:t>.</a:t>
            </a:r>
          </a:p>
          <a:p>
            <a:r>
              <a:rPr lang="en-US" altLang="ko-KR" sz="1600" dirty="0" smtClean="0"/>
              <a:t> - h tag</a:t>
            </a:r>
            <a:r>
              <a:rPr lang="ko-KR" altLang="en-US" sz="1600" dirty="0" smtClean="0"/>
              <a:t>를 사용하면 자동 줄 변경이 된다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&lt;h1&gt;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&lt;/h1&gt;  : </a:t>
            </a:r>
            <a:r>
              <a:rPr lang="ko-KR" altLang="en-US" sz="1600" dirty="0" smtClean="0"/>
              <a:t>가장 큰 글자 </a:t>
            </a:r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&lt;h6&gt;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&lt;/h6&gt;  : </a:t>
            </a:r>
            <a:r>
              <a:rPr lang="ko-KR" altLang="en-US" sz="1600" dirty="0" smtClean="0"/>
              <a:t>가장 작은 글자 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b="1" dirty="0" smtClean="0"/>
              <a:t>*</a:t>
            </a:r>
            <a:r>
              <a:rPr lang="ko-KR" altLang="en-US" sz="1600" b="1" dirty="0" smtClean="0"/>
              <a:t>선 긋기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태그를 사용하면 자동 줄 변경이 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CSS</a:t>
            </a:r>
            <a:r>
              <a:rPr lang="ko-KR" altLang="en-US" sz="1600" dirty="0" smtClean="0"/>
              <a:t>에서 사용자에게 보여지지 않는 설정을 적용하여 주로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(HTML </a:t>
            </a:r>
            <a:r>
              <a:rPr lang="ko-KR" altLang="en-US" sz="1600" dirty="0" smtClean="0"/>
              <a:t>태그의 영역을 구분하는 용도로 사용 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&lt;hr  color=“</a:t>
            </a:r>
            <a:r>
              <a:rPr lang="ko-KR" altLang="en-US" sz="1600" dirty="0" smtClean="0"/>
              <a:t>색</a:t>
            </a:r>
            <a:r>
              <a:rPr lang="en-US" altLang="ko-KR" sz="1600" dirty="0" smtClean="0"/>
              <a:t>” width=“</a:t>
            </a:r>
            <a:r>
              <a:rPr lang="ko-KR" altLang="en-US" sz="1600" dirty="0" smtClean="0"/>
              <a:t>넓이</a:t>
            </a:r>
            <a:r>
              <a:rPr lang="en-US" altLang="ko-KR" sz="1600" dirty="0" smtClean="0"/>
              <a:t>” size=“</a:t>
            </a:r>
            <a:r>
              <a:rPr lang="ko-KR" altLang="en-US" sz="1600" dirty="0" smtClean="0"/>
              <a:t>높이</a:t>
            </a:r>
            <a:r>
              <a:rPr lang="en-US" altLang="ko-KR" sz="1600" dirty="0" smtClean="0"/>
              <a:t>”</a:t>
            </a:r>
            <a:r>
              <a:rPr lang="en-US" altLang="ko-KR" sz="1600" b="1" dirty="0" smtClean="0"/>
              <a:t>/</a:t>
            </a:r>
            <a:r>
              <a:rPr lang="en-US" altLang="ko-KR" sz="1600" dirty="0" smtClean="0"/>
              <a:t>&gt;</a:t>
            </a:r>
            <a:endParaRPr lang="ko-KR" altLang="en-US" sz="1600" dirty="0"/>
          </a:p>
        </p:txBody>
      </p:sp>
      <p:sp>
        <p:nvSpPr>
          <p:cNvPr id="3" name="자유형 2"/>
          <p:cNvSpPr/>
          <p:nvPr/>
        </p:nvSpPr>
        <p:spPr>
          <a:xfrm>
            <a:off x="1179440" y="1625600"/>
            <a:ext cx="141360" cy="460902"/>
          </a:xfrm>
          <a:custGeom>
            <a:avLst/>
            <a:gdLst>
              <a:gd name="connsiteX0" fmla="*/ 141360 w 141360"/>
              <a:gd name="connsiteY0" fmla="*/ 0 h 460902"/>
              <a:gd name="connsiteX1" fmla="*/ 122310 w 141360"/>
              <a:gd name="connsiteY1" fmla="*/ 6350 h 460902"/>
              <a:gd name="connsiteX2" fmla="*/ 96910 w 141360"/>
              <a:gd name="connsiteY2" fmla="*/ 19050 h 460902"/>
              <a:gd name="connsiteX3" fmla="*/ 71510 w 141360"/>
              <a:gd name="connsiteY3" fmla="*/ 25400 h 460902"/>
              <a:gd name="connsiteX4" fmla="*/ 33410 w 141360"/>
              <a:gd name="connsiteY4" fmla="*/ 50800 h 460902"/>
              <a:gd name="connsiteX5" fmla="*/ 14360 w 141360"/>
              <a:gd name="connsiteY5" fmla="*/ 63500 h 460902"/>
              <a:gd name="connsiteX6" fmla="*/ 1660 w 141360"/>
              <a:gd name="connsiteY6" fmla="*/ 101600 h 460902"/>
              <a:gd name="connsiteX7" fmla="*/ 8010 w 141360"/>
              <a:gd name="connsiteY7" fmla="*/ 152400 h 460902"/>
              <a:gd name="connsiteX8" fmla="*/ 27060 w 141360"/>
              <a:gd name="connsiteY8" fmla="*/ 196850 h 460902"/>
              <a:gd name="connsiteX9" fmla="*/ 39760 w 141360"/>
              <a:gd name="connsiteY9" fmla="*/ 215900 h 460902"/>
              <a:gd name="connsiteX10" fmla="*/ 58810 w 141360"/>
              <a:gd name="connsiteY10" fmla="*/ 254000 h 460902"/>
              <a:gd name="connsiteX11" fmla="*/ 77860 w 141360"/>
              <a:gd name="connsiteY11" fmla="*/ 273050 h 460902"/>
              <a:gd name="connsiteX12" fmla="*/ 103260 w 141360"/>
              <a:gd name="connsiteY12" fmla="*/ 311150 h 460902"/>
              <a:gd name="connsiteX13" fmla="*/ 115960 w 141360"/>
              <a:gd name="connsiteY13" fmla="*/ 330200 h 460902"/>
              <a:gd name="connsiteX14" fmla="*/ 122310 w 141360"/>
              <a:gd name="connsiteY14" fmla="*/ 349250 h 460902"/>
              <a:gd name="connsiteX15" fmla="*/ 115960 w 141360"/>
              <a:gd name="connsiteY15" fmla="*/ 431800 h 460902"/>
              <a:gd name="connsiteX16" fmla="*/ 77860 w 141360"/>
              <a:gd name="connsiteY16" fmla="*/ 457200 h 460902"/>
              <a:gd name="connsiteX17" fmla="*/ 103260 w 141360"/>
              <a:gd name="connsiteY17" fmla="*/ 450850 h 460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1360" h="460902">
                <a:moveTo>
                  <a:pt x="141360" y="0"/>
                </a:moveTo>
                <a:cubicBezTo>
                  <a:pt x="135010" y="2117"/>
                  <a:pt x="128462" y="3713"/>
                  <a:pt x="122310" y="6350"/>
                </a:cubicBezTo>
                <a:cubicBezTo>
                  <a:pt x="113609" y="10079"/>
                  <a:pt x="105773" y="15726"/>
                  <a:pt x="96910" y="19050"/>
                </a:cubicBezTo>
                <a:cubicBezTo>
                  <a:pt x="88738" y="22114"/>
                  <a:pt x="79977" y="23283"/>
                  <a:pt x="71510" y="25400"/>
                </a:cubicBezTo>
                <a:lnTo>
                  <a:pt x="33410" y="50800"/>
                </a:lnTo>
                <a:lnTo>
                  <a:pt x="14360" y="63500"/>
                </a:lnTo>
                <a:cubicBezTo>
                  <a:pt x="10127" y="76200"/>
                  <a:pt x="0" y="88316"/>
                  <a:pt x="1660" y="101600"/>
                </a:cubicBezTo>
                <a:cubicBezTo>
                  <a:pt x="3777" y="118533"/>
                  <a:pt x="4957" y="135610"/>
                  <a:pt x="8010" y="152400"/>
                </a:cubicBezTo>
                <a:cubicBezTo>
                  <a:pt x="10385" y="165461"/>
                  <a:pt x="21222" y="186633"/>
                  <a:pt x="27060" y="196850"/>
                </a:cubicBezTo>
                <a:cubicBezTo>
                  <a:pt x="30846" y="203476"/>
                  <a:pt x="36347" y="209074"/>
                  <a:pt x="39760" y="215900"/>
                </a:cubicBezTo>
                <a:cubicBezTo>
                  <a:pt x="54079" y="244539"/>
                  <a:pt x="36062" y="226703"/>
                  <a:pt x="58810" y="254000"/>
                </a:cubicBezTo>
                <a:cubicBezTo>
                  <a:pt x="64559" y="260899"/>
                  <a:pt x="72347" y="265961"/>
                  <a:pt x="77860" y="273050"/>
                </a:cubicBezTo>
                <a:cubicBezTo>
                  <a:pt x="87231" y="285098"/>
                  <a:pt x="94793" y="298450"/>
                  <a:pt x="103260" y="311150"/>
                </a:cubicBezTo>
                <a:cubicBezTo>
                  <a:pt x="107493" y="317500"/>
                  <a:pt x="113547" y="322960"/>
                  <a:pt x="115960" y="330200"/>
                </a:cubicBezTo>
                <a:lnTo>
                  <a:pt x="122310" y="349250"/>
                </a:lnTo>
                <a:cubicBezTo>
                  <a:pt x="120193" y="376767"/>
                  <a:pt x="126468" y="406281"/>
                  <a:pt x="115960" y="431800"/>
                </a:cubicBezTo>
                <a:cubicBezTo>
                  <a:pt x="110148" y="445914"/>
                  <a:pt x="63052" y="460902"/>
                  <a:pt x="77860" y="457200"/>
                </a:cubicBezTo>
                <a:lnTo>
                  <a:pt x="103260" y="45085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rot="5400000" flipH="1" flipV="1">
            <a:off x="1428728" y="4214818"/>
            <a:ext cx="285752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0100" y="450057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단어</a:t>
            </a:r>
            <a:endParaRPr lang="en-US" altLang="ko-KR" sz="1200" dirty="0" smtClean="0"/>
          </a:p>
          <a:p>
            <a:r>
              <a:rPr lang="en-US" altLang="ko-KR" sz="1200" dirty="0" smtClean="0"/>
              <a:t>RGB</a:t>
            </a:r>
            <a:endParaRPr lang="ko-KR" altLang="en-US" sz="1200" dirty="0"/>
          </a:p>
        </p:txBody>
      </p:sp>
      <p:cxnSp>
        <p:nvCxnSpPr>
          <p:cNvPr id="8" name="직선 화살표 연결선 7"/>
          <p:cNvCxnSpPr/>
          <p:nvPr/>
        </p:nvCxnSpPr>
        <p:spPr>
          <a:xfrm rot="5400000" flipH="1" flipV="1">
            <a:off x="2500298" y="4214818"/>
            <a:ext cx="285752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71670" y="4500570"/>
            <a:ext cx="2488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고정길이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수치 </a:t>
            </a:r>
            <a:r>
              <a:rPr lang="en-US" altLang="ko-KR" sz="1200" dirty="0" smtClean="0"/>
              <a:t>( </a:t>
            </a:r>
            <a:r>
              <a:rPr lang="en-US" altLang="ko-KR" sz="1200" dirty="0" err="1" smtClean="0"/>
              <a:t>px</a:t>
            </a:r>
            <a:r>
              <a:rPr lang="en-US" altLang="ko-KR" sz="1200" dirty="0" smtClean="0"/>
              <a:t> – pixel </a:t>
            </a:r>
            <a:r>
              <a:rPr lang="ko-KR" altLang="en-US" sz="1200" dirty="0" smtClean="0"/>
              <a:t>단위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가변길이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수치</a:t>
            </a:r>
            <a:r>
              <a:rPr lang="en-US" altLang="ko-KR" sz="1200" b="1" dirty="0" smtClean="0"/>
              <a:t>%</a:t>
            </a:r>
            <a:endParaRPr lang="ko-KR" altLang="en-US" sz="1200" b="1" dirty="0"/>
          </a:p>
        </p:txBody>
      </p:sp>
      <p:cxnSp>
        <p:nvCxnSpPr>
          <p:cNvPr id="11" name="직선 화살표 연결선 10"/>
          <p:cNvCxnSpPr/>
          <p:nvPr/>
        </p:nvCxnSpPr>
        <p:spPr>
          <a:xfrm rot="10800000">
            <a:off x="4214810" y="4214818"/>
            <a:ext cx="714380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86314" y="4500570"/>
            <a:ext cx="2488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고정길이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수치 </a:t>
            </a:r>
            <a:r>
              <a:rPr lang="en-US" altLang="ko-KR" sz="1200" dirty="0" smtClean="0"/>
              <a:t>( </a:t>
            </a:r>
            <a:r>
              <a:rPr lang="en-US" altLang="ko-KR" sz="1200" dirty="0" err="1" smtClean="0"/>
              <a:t>px</a:t>
            </a:r>
            <a:r>
              <a:rPr lang="en-US" altLang="ko-KR" sz="1200" dirty="0" smtClean="0"/>
              <a:t> – pixel </a:t>
            </a:r>
            <a:r>
              <a:rPr lang="ko-KR" altLang="en-US" sz="1200" dirty="0" smtClean="0"/>
              <a:t>단위</a:t>
            </a:r>
            <a:r>
              <a:rPr lang="en-US" altLang="ko-KR" sz="1200" dirty="0" smtClean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3793026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</a:t>
            </a:r>
            <a:r>
              <a:rPr lang="ko-KR" altLang="en-US" sz="1600" dirty="0" smtClean="0"/>
              <a:t>목록 태그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&lt;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&gt;, &lt;dl&gt;, &lt;</a:t>
            </a:r>
            <a:r>
              <a:rPr lang="en-US" altLang="ko-KR" sz="1600" dirty="0" err="1" smtClean="0"/>
              <a:t>dt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dd</a:t>
            </a:r>
            <a:r>
              <a:rPr lang="en-US" altLang="ko-KR" sz="1600" dirty="0" smtClean="0"/>
              <a:t>&gt;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&lt;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&gt; : </a:t>
            </a:r>
            <a:r>
              <a:rPr lang="ko-KR" altLang="en-US" sz="1600" dirty="0" smtClean="0"/>
              <a:t>순서 목록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 type=“ ”&gt;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 smtClean="0"/>
              <a:t>  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&lt;/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&gt;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&lt;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&gt; : </a:t>
            </a:r>
            <a:r>
              <a:rPr lang="ko-KR" altLang="en-US" sz="1600" dirty="0" smtClean="0"/>
              <a:t>도형 목록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&lt;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 type=“”&gt;	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 smtClean="0"/>
              <a:t>    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 smtClean="0"/>
              <a:t>       .</a:t>
            </a:r>
          </a:p>
          <a:p>
            <a:r>
              <a:rPr lang="en-US" altLang="ko-KR" sz="1600" dirty="0" smtClean="0"/>
              <a:t>  &lt;/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&gt;</a:t>
            </a: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1571604" y="1643050"/>
            <a:ext cx="78581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5984" y="1428736"/>
            <a:ext cx="124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1</a:t>
            </a:r>
            <a:r>
              <a:rPr lang="en-US" altLang="ko-KR" dirty="0" smtClean="0"/>
              <a:t>, a, A, 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, I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rot="10800000" flipV="1">
            <a:off x="1714480" y="3286124"/>
            <a:ext cx="92869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43174" y="3143248"/>
            <a:ext cx="210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disc</a:t>
            </a:r>
            <a:r>
              <a:rPr lang="en-US" altLang="ko-KR" dirty="0" smtClean="0"/>
              <a:t>, circle, square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2857488" y="300037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3428992" y="3000372"/>
            <a:ext cx="142876" cy="1428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43372" y="3000372"/>
            <a:ext cx="142876" cy="142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 rot="10800000">
            <a:off x="3071802" y="1857364"/>
            <a:ext cx="64294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rot="5400000">
            <a:off x="3214678" y="2428868"/>
            <a:ext cx="714380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86182" y="2000240"/>
            <a:ext cx="827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List style</a:t>
            </a:r>
            <a:endParaRPr lang="ko-KR" altLang="en-US" sz="1200" dirty="0"/>
          </a:p>
        </p:txBody>
      </p:sp>
      <p:cxnSp>
        <p:nvCxnSpPr>
          <p:cNvPr id="19" name="직선 연결선 18"/>
          <p:cNvCxnSpPr/>
          <p:nvPr/>
        </p:nvCxnSpPr>
        <p:spPr>
          <a:xfrm rot="5400000">
            <a:off x="2893207" y="4964917"/>
            <a:ext cx="278608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57686" y="3714752"/>
            <a:ext cx="4272323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*</a:t>
            </a:r>
            <a:r>
              <a:rPr lang="ko-KR" altLang="en-US" sz="1400" dirty="0" smtClean="0"/>
              <a:t>설명목록</a:t>
            </a:r>
            <a:endParaRPr lang="en-US" altLang="ko-KR" sz="1400" dirty="0" smtClean="0"/>
          </a:p>
          <a:p>
            <a:r>
              <a:rPr lang="en-US" altLang="ko-KR" sz="1400" dirty="0" smtClean="0"/>
              <a:t> - </a:t>
            </a:r>
            <a:r>
              <a:rPr lang="ko-KR" altLang="en-US" sz="1400" dirty="0" smtClean="0"/>
              <a:t>제목에 대한 설명을 만들 때 사용하는 목록 태그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- </a:t>
            </a:r>
            <a:r>
              <a:rPr lang="ko-KR" altLang="en-US" sz="1400" dirty="0" smtClean="0"/>
              <a:t>설명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은 들여쓰기로 보여진다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&lt;dl&gt;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제목에 대한 설명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제목에 대한 설명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.</a:t>
            </a:r>
            <a:endParaRPr lang="en-US" altLang="ko-KR" sz="1400" dirty="0" smtClean="0"/>
          </a:p>
          <a:p>
            <a:r>
              <a:rPr lang="en-US" altLang="ko-KR" sz="1400" dirty="0" smtClean="0"/>
              <a:t>  &lt;/dl&gt;</a:t>
            </a:r>
          </a:p>
          <a:p>
            <a:r>
              <a:rPr lang="en-US" altLang="ko-KR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684065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이미지</a:t>
            </a:r>
            <a:endParaRPr lang="en-US" altLang="ko-KR" dirty="0" smtClean="0"/>
          </a:p>
          <a:p>
            <a:r>
              <a:rPr lang="en-US" altLang="ko-KR" sz="1600" dirty="0" smtClean="0"/>
              <a:t> - Web Browser</a:t>
            </a:r>
            <a:r>
              <a:rPr lang="ko-KR" altLang="en-US" sz="1600" dirty="0" smtClean="0"/>
              <a:t>에서 이미지를 보여줄 때 사용하는 태그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src</a:t>
            </a:r>
            <a:r>
              <a:rPr lang="en-US" altLang="ko-KR" sz="1600" dirty="0" smtClean="0"/>
              <a:t>=“</a:t>
            </a:r>
            <a:r>
              <a:rPr lang="ko-KR" altLang="en-US" sz="1600" dirty="0" smtClean="0"/>
              <a:t>이미지경로</a:t>
            </a:r>
            <a:r>
              <a:rPr lang="en-US" altLang="ko-KR" sz="1600" dirty="0" smtClean="0"/>
              <a:t>” width=“</a:t>
            </a:r>
            <a:r>
              <a:rPr lang="ko-KR" altLang="en-US" sz="1600" dirty="0" smtClean="0"/>
              <a:t>넓이</a:t>
            </a:r>
            <a:r>
              <a:rPr lang="en-US" altLang="ko-KR" sz="1600" dirty="0" smtClean="0"/>
              <a:t>” height=“</a:t>
            </a:r>
            <a:r>
              <a:rPr lang="ko-KR" altLang="en-US" sz="1600" dirty="0" smtClean="0"/>
              <a:t>높이</a:t>
            </a:r>
            <a:r>
              <a:rPr lang="en-US" altLang="ko-KR" sz="1600" dirty="0" smtClean="0"/>
              <a:t>” title=“</a:t>
            </a:r>
            <a:r>
              <a:rPr lang="ko-KR" altLang="en-US" sz="1600" dirty="0" smtClean="0"/>
              <a:t>풍선도움말</a:t>
            </a:r>
            <a:r>
              <a:rPr lang="en-US" altLang="ko-KR" sz="1600" dirty="0" smtClean="0"/>
              <a:t>”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alt=“</a:t>
            </a:r>
            <a:r>
              <a:rPr lang="ko-KR" altLang="en-US" sz="1600" dirty="0" err="1" smtClean="0"/>
              <a:t>엑박일때</a:t>
            </a:r>
            <a:r>
              <a:rPr lang="ko-KR" altLang="en-US" sz="1600" dirty="0" smtClean="0"/>
              <a:t> 보여질 메시지</a:t>
            </a:r>
            <a:r>
              <a:rPr lang="en-US" altLang="ko-KR" sz="1600" dirty="0" smtClean="0"/>
              <a:t>” border=“</a:t>
            </a:r>
            <a:r>
              <a:rPr lang="ko-KR" altLang="en-US" sz="1600" dirty="0" smtClean="0"/>
              <a:t>테두리선두께</a:t>
            </a:r>
            <a:r>
              <a:rPr lang="en-US" altLang="ko-KR" sz="1600" dirty="0" smtClean="0"/>
              <a:t>”/&gt;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5400000" flipH="1" flipV="1">
            <a:off x="1393009" y="1678769"/>
            <a:ext cx="71438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28728" y="2214554"/>
            <a:ext cx="7943200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-</a:t>
            </a:r>
            <a:r>
              <a:rPr lang="ko-KR" altLang="en-US" sz="1400" dirty="0" smtClean="0"/>
              <a:t>절대경로 </a:t>
            </a:r>
            <a:r>
              <a:rPr lang="en-US" altLang="ko-KR" sz="1400" dirty="0" smtClean="0"/>
              <a:t>:  c:/dev/img/test.jpg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</a:t>
            </a:r>
            <a:r>
              <a:rPr lang="ko-KR" altLang="en-US" sz="1400" dirty="0" smtClean="0"/>
              <a:t>상대경로 </a:t>
            </a:r>
            <a:r>
              <a:rPr lang="en-US" altLang="ko-KR" sz="1400" dirty="0" smtClean="0"/>
              <a:t>: HTML</a:t>
            </a:r>
            <a:r>
              <a:rPr lang="ko-KR" altLang="en-US" sz="1400" dirty="0" smtClean="0"/>
              <a:t>이 </a:t>
            </a: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되고 있는</a:t>
            </a:r>
            <a:r>
              <a:rPr lang="en-US" altLang="ko-KR" sz="1400" dirty="0" smtClean="0"/>
              <a:t> Web Browser</a:t>
            </a:r>
            <a:r>
              <a:rPr lang="ko-KR" altLang="en-US" sz="1400" dirty="0" smtClean="0"/>
              <a:t>의 주소창을 기준으로 경로 사용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- </a:t>
            </a:r>
            <a:r>
              <a:rPr lang="ko-KR" altLang="en-US" sz="1400" dirty="0" smtClean="0"/>
              <a:t>이미지를 사용하는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의 경로가 변경되면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이미지 참조 경로를 </a:t>
            </a:r>
            <a:r>
              <a:rPr lang="ko-KR" altLang="en-US" sz="1400" dirty="0" err="1" smtClean="0"/>
              <a:t>수정해야한다</a:t>
            </a:r>
            <a:r>
              <a:rPr lang="en-US" altLang="ko-KR" sz="1400" dirty="0" smtClean="0"/>
              <a:t>.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- </a:t>
            </a:r>
            <a:r>
              <a:rPr lang="ko-KR" altLang="en-US" sz="1400" dirty="0" smtClean="0"/>
              <a:t>이미지가 반드시 웹 서버 내 존재</a:t>
            </a:r>
            <a:endParaRPr lang="en-US" altLang="ko-KR" sz="1400" dirty="0" smtClean="0"/>
          </a:p>
          <a:p>
            <a:r>
              <a:rPr lang="en-US" altLang="ko-KR" sz="1400" dirty="0" smtClean="0"/>
              <a:t>             - </a:t>
            </a:r>
            <a:r>
              <a:rPr lang="ko-KR" altLang="en-US" sz="1400" dirty="0" smtClean="0"/>
              <a:t>경로를 짧게 기술할 수 있다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-URL :  </a:t>
            </a:r>
            <a:r>
              <a:rPr lang="ko-KR" altLang="en-US" sz="1400" dirty="0" smtClean="0"/>
              <a:t>프로토콜에서부터 서비스되는 파일의 전체경로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-</a:t>
            </a:r>
            <a:r>
              <a:rPr lang="ko-KR" altLang="en-US" sz="1400" dirty="0" smtClean="0"/>
              <a:t>이미지를 사용하는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의 경로가 바뀌어도 이미지태그내 경로는 수정하지 </a:t>
            </a:r>
            <a:r>
              <a:rPr lang="ko-KR" altLang="en-US" sz="1400" dirty="0" err="1" smtClean="0"/>
              <a:t>않아도된다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-</a:t>
            </a:r>
            <a:r>
              <a:rPr lang="ko-KR" altLang="en-US" sz="1400" dirty="0" smtClean="0"/>
              <a:t>이미지 서버가 별도로 존재해도 연결가능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-</a:t>
            </a:r>
            <a:r>
              <a:rPr lang="ko-KR" altLang="en-US" sz="1400" dirty="0" smtClean="0"/>
              <a:t>경로를 길게 기술해야 한다</a:t>
            </a:r>
            <a:r>
              <a:rPr lang="en-US" altLang="ko-KR" sz="1400" dirty="0" smtClean="0"/>
              <a:t>. </a:t>
            </a:r>
            <a:endParaRPr lang="ko-KR" altLang="en-US" sz="14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643174" y="2214554"/>
            <a:ext cx="135732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2643174" y="2214554"/>
            <a:ext cx="1214446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4572008"/>
            <a:ext cx="49815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직선 화살표 연결선 11"/>
          <p:cNvCxnSpPr/>
          <p:nvPr/>
        </p:nvCxnSpPr>
        <p:spPr>
          <a:xfrm rot="16200000" flipH="1">
            <a:off x="4857752" y="3357562"/>
            <a:ext cx="2286016" cy="1285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4"/>
            <a:ext cx="53435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5400000">
            <a:off x="3286116" y="1500174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3714744" y="1857364"/>
            <a:ext cx="114300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1472" y="2786058"/>
            <a:ext cx="891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src</a:t>
            </a:r>
            <a:r>
              <a:rPr lang="en-US" altLang="ko-KR" sz="1600" dirty="0" smtClean="0"/>
              <a:t>=“google.png”/&gt; : </a:t>
            </a:r>
            <a:r>
              <a:rPr lang="ko-KR" altLang="en-US" sz="1600" dirty="0" smtClean="0"/>
              <a:t>이미지를 사용하는 </a:t>
            </a:r>
            <a:r>
              <a:rPr lang="en-US" altLang="ko-KR" sz="1600" dirty="0" smtClean="0"/>
              <a:t>file</a:t>
            </a:r>
            <a:r>
              <a:rPr lang="ko-KR" altLang="en-US" sz="1600" dirty="0" smtClean="0"/>
              <a:t>위치에 </a:t>
            </a:r>
            <a:r>
              <a:rPr lang="en-US" altLang="ko-KR" sz="1600" dirty="0" smtClean="0"/>
              <a:t>google.png </a:t>
            </a:r>
            <a:r>
              <a:rPr lang="ko-KR" altLang="en-US" sz="1600" dirty="0" smtClean="0"/>
              <a:t>이미지가 없으므로 </a:t>
            </a:r>
            <a:r>
              <a:rPr lang="ko-KR" altLang="en-US" sz="1600" dirty="0" err="1" smtClean="0"/>
              <a:t>엑박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214686"/>
            <a:ext cx="5286412" cy="1823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57158" y="5286388"/>
            <a:ext cx="4249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../ </a:t>
            </a:r>
            <a:r>
              <a:rPr lang="ko-KR" altLang="en-US" sz="1600" dirty="0" smtClean="0"/>
              <a:t>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수준 위로 </a:t>
            </a:r>
            <a:endParaRPr lang="en-US" altLang="ko-KR" sz="1600" dirty="0" smtClean="0"/>
          </a:p>
          <a:p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src</a:t>
            </a:r>
            <a:r>
              <a:rPr lang="en-US" altLang="ko-KR" sz="1600" dirty="0" smtClean="0"/>
              <a:t>=“../common/images/</a:t>
            </a:r>
            <a:r>
              <a:rPr lang="en-US" altLang="ko-KR" sz="1600" dirty="0" smtClean="0"/>
              <a:t>naver</a:t>
            </a:r>
            <a:r>
              <a:rPr lang="en-US" altLang="ko-KR" sz="1600" dirty="0" smtClean="0"/>
              <a:t>.png”/&gt;</a:t>
            </a:r>
            <a:endParaRPr lang="en-US" altLang="ko-KR" sz="1600" dirty="0" smtClean="0"/>
          </a:p>
        </p:txBody>
      </p:sp>
      <p:sp>
        <p:nvSpPr>
          <p:cNvPr id="11" name="자유형 10"/>
          <p:cNvSpPr/>
          <p:nvPr/>
        </p:nvSpPr>
        <p:spPr>
          <a:xfrm>
            <a:off x="2584450" y="3587750"/>
            <a:ext cx="806450" cy="203200"/>
          </a:xfrm>
          <a:custGeom>
            <a:avLst/>
            <a:gdLst>
              <a:gd name="connsiteX0" fmla="*/ 806450 w 806450"/>
              <a:gd name="connsiteY0" fmla="*/ 203200 h 203200"/>
              <a:gd name="connsiteX1" fmla="*/ 774700 w 806450"/>
              <a:gd name="connsiteY1" fmla="*/ 152400 h 203200"/>
              <a:gd name="connsiteX2" fmla="*/ 755650 w 806450"/>
              <a:gd name="connsiteY2" fmla="*/ 139700 h 203200"/>
              <a:gd name="connsiteX3" fmla="*/ 736600 w 806450"/>
              <a:gd name="connsiteY3" fmla="*/ 120650 h 203200"/>
              <a:gd name="connsiteX4" fmla="*/ 692150 w 806450"/>
              <a:gd name="connsiteY4" fmla="*/ 95250 h 203200"/>
              <a:gd name="connsiteX5" fmla="*/ 654050 w 806450"/>
              <a:gd name="connsiteY5" fmla="*/ 69850 h 203200"/>
              <a:gd name="connsiteX6" fmla="*/ 635000 w 806450"/>
              <a:gd name="connsiteY6" fmla="*/ 57150 h 203200"/>
              <a:gd name="connsiteX7" fmla="*/ 615950 w 806450"/>
              <a:gd name="connsiteY7" fmla="*/ 44450 h 203200"/>
              <a:gd name="connsiteX8" fmla="*/ 539750 w 806450"/>
              <a:gd name="connsiteY8" fmla="*/ 19050 h 203200"/>
              <a:gd name="connsiteX9" fmla="*/ 520700 w 806450"/>
              <a:gd name="connsiteY9" fmla="*/ 12700 h 203200"/>
              <a:gd name="connsiteX10" fmla="*/ 501650 w 806450"/>
              <a:gd name="connsiteY10" fmla="*/ 6350 h 203200"/>
              <a:gd name="connsiteX11" fmla="*/ 476250 w 806450"/>
              <a:gd name="connsiteY11" fmla="*/ 0 h 203200"/>
              <a:gd name="connsiteX12" fmla="*/ 234950 w 806450"/>
              <a:gd name="connsiteY12" fmla="*/ 6350 h 203200"/>
              <a:gd name="connsiteX13" fmla="*/ 171450 w 806450"/>
              <a:gd name="connsiteY13" fmla="*/ 25400 h 203200"/>
              <a:gd name="connsiteX14" fmla="*/ 152400 w 806450"/>
              <a:gd name="connsiteY14" fmla="*/ 38100 h 203200"/>
              <a:gd name="connsiteX15" fmla="*/ 133350 w 806450"/>
              <a:gd name="connsiteY15" fmla="*/ 44450 h 203200"/>
              <a:gd name="connsiteX16" fmla="*/ 76200 w 806450"/>
              <a:gd name="connsiteY16" fmla="*/ 76200 h 203200"/>
              <a:gd name="connsiteX17" fmla="*/ 57150 w 806450"/>
              <a:gd name="connsiteY17" fmla="*/ 95250 h 203200"/>
              <a:gd name="connsiteX18" fmla="*/ 19050 w 806450"/>
              <a:gd name="connsiteY18" fmla="*/ 120650 h 203200"/>
              <a:gd name="connsiteX19" fmla="*/ 0 w 806450"/>
              <a:gd name="connsiteY19" fmla="*/ 13970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06450" h="203200">
                <a:moveTo>
                  <a:pt x="806450" y="203200"/>
                </a:moveTo>
                <a:cubicBezTo>
                  <a:pt x="796390" y="183080"/>
                  <a:pt x="791186" y="168886"/>
                  <a:pt x="774700" y="152400"/>
                </a:cubicBezTo>
                <a:cubicBezTo>
                  <a:pt x="769304" y="147004"/>
                  <a:pt x="761513" y="144586"/>
                  <a:pt x="755650" y="139700"/>
                </a:cubicBezTo>
                <a:cubicBezTo>
                  <a:pt x="748751" y="133951"/>
                  <a:pt x="743499" y="126399"/>
                  <a:pt x="736600" y="120650"/>
                </a:cubicBezTo>
                <a:cubicBezTo>
                  <a:pt x="717772" y="104960"/>
                  <a:pt x="714332" y="108559"/>
                  <a:pt x="692150" y="95250"/>
                </a:cubicBezTo>
                <a:cubicBezTo>
                  <a:pt x="679062" y="87397"/>
                  <a:pt x="666750" y="78317"/>
                  <a:pt x="654050" y="69850"/>
                </a:cubicBezTo>
                <a:lnTo>
                  <a:pt x="635000" y="57150"/>
                </a:lnTo>
                <a:cubicBezTo>
                  <a:pt x="628650" y="52917"/>
                  <a:pt x="623190" y="46863"/>
                  <a:pt x="615950" y="44450"/>
                </a:cubicBezTo>
                <a:lnTo>
                  <a:pt x="539750" y="19050"/>
                </a:lnTo>
                <a:lnTo>
                  <a:pt x="520700" y="12700"/>
                </a:lnTo>
                <a:cubicBezTo>
                  <a:pt x="514350" y="10583"/>
                  <a:pt x="508144" y="7973"/>
                  <a:pt x="501650" y="6350"/>
                </a:cubicBezTo>
                <a:lnTo>
                  <a:pt x="476250" y="0"/>
                </a:lnTo>
                <a:cubicBezTo>
                  <a:pt x="395817" y="2117"/>
                  <a:pt x="315320" y="2523"/>
                  <a:pt x="234950" y="6350"/>
                </a:cubicBezTo>
                <a:cubicBezTo>
                  <a:pt x="225393" y="6805"/>
                  <a:pt x="173606" y="23963"/>
                  <a:pt x="171450" y="25400"/>
                </a:cubicBezTo>
                <a:cubicBezTo>
                  <a:pt x="165100" y="29633"/>
                  <a:pt x="159226" y="34687"/>
                  <a:pt x="152400" y="38100"/>
                </a:cubicBezTo>
                <a:cubicBezTo>
                  <a:pt x="146413" y="41093"/>
                  <a:pt x="139201" y="41199"/>
                  <a:pt x="133350" y="44450"/>
                </a:cubicBezTo>
                <a:cubicBezTo>
                  <a:pt x="67846" y="80841"/>
                  <a:pt x="119305" y="61832"/>
                  <a:pt x="76200" y="76200"/>
                </a:cubicBezTo>
                <a:cubicBezTo>
                  <a:pt x="69850" y="82550"/>
                  <a:pt x="64622" y="90269"/>
                  <a:pt x="57150" y="95250"/>
                </a:cubicBezTo>
                <a:cubicBezTo>
                  <a:pt x="18997" y="120685"/>
                  <a:pt x="57032" y="75072"/>
                  <a:pt x="19050" y="120650"/>
                </a:cubicBezTo>
                <a:cubicBezTo>
                  <a:pt x="1707" y="141461"/>
                  <a:pt x="14944" y="139700"/>
                  <a:pt x="0" y="1397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143240" y="342900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../</a:t>
            </a:r>
            <a:endParaRPr lang="ko-KR" altLang="en-US" dirty="0"/>
          </a:p>
        </p:txBody>
      </p:sp>
      <p:sp>
        <p:nvSpPr>
          <p:cNvPr id="13" name="자유형 12"/>
          <p:cNvSpPr/>
          <p:nvPr/>
        </p:nvSpPr>
        <p:spPr>
          <a:xfrm>
            <a:off x="2551310" y="3943350"/>
            <a:ext cx="1753990" cy="536398"/>
          </a:xfrm>
          <a:custGeom>
            <a:avLst/>
            <a:gdLst>
              <a:gd name="connsiteX0" fmla="*/ 39490 w 1753990"/>
              <a:gd name="connsiteY0" fmla="*/ 0 h 536398"/>
              <a:gd name="connsiteX1" fmla="*/ 33140 w 1753990"/>
              <a:gd name="connsiteY1" fmla="*/ 374650 h 536398"/>
              <a:gd name="connsiteX2" fmla="*/ 39490 w 1753990"/>
              <a:gd name="connsiteY2" fmla="*/ 495300 h 536398"/>
              <a:gd name="connsiteX3" fmla="*/ 668140 w 1753990"/>
              <a:gd name="connsiteY3" fmla="*/ 501650 h 536398"/>
              <a:gd name="connsiteX4" fmla="*/ 744340 w 1753990"/>
              <a:gd name="connsiteY4" fmla="*/ 508000 h 536398"/>
              <a:gd name="connsiteX5" fmla="*/ 769740 w 1753990"/>
              <a:gd name="connsiteY5" fmla="*/ 514350 h 536398"/>
              <a:gd name="connsiteX6" fmla="*/ 877690 w 1753990"/>
              <a:gd name="connsiteY6" fmla="*/ 527050 h 536398"/>
              <a:gd name="connsiteX7" fmla="*/ 1011040 w 1753990"/>
              <a:gd name="connsiteY7" fmla="*/ 533400 h 536398"/>
              <a:gd name="connsiteX8" fmla="*/ 1753990 w 1753990"/>
              <a:gd name="connsiteY8" fmla="*/ 527050 h 53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3990" h="536398">
                <a:moveTo>
                  <a:pt x="39490" y="0"/>
                </a:moveTo>
                <a:cubicBezTo>
                  <a:pt x="37373" y="124883"/>
                  <a:pt x="33140" y="249749"/>
                  <a:pt x="33140" y="374650"/>
                </a:cubicBezTo>
                <a:cubicBezTo>
                  <a:pt x="33140" y="414922"/>
                  <a:pt x="0" y="487402"/>
                  <a:pt x="39490" y="495300"/>
                </a:cubicBezTo>
                <a:cubicBezTo>
                  <a:pt x="244981" y="536398"/>
                  <a:pt x="458590" y="499533"/>
                  <a:pt x="668140" y="501650"/>
                </a:cubicBezTo>
                <a:cubicBezTo>
                  <a:pt x="693540" y="503767"/>
                  <a:pt x="719049" y="504839"/>
                  <a:pt x="744340" y="508000"/>
                </a:cubicBezTo>
                <a:cubicBezTo>
                  <a:pt x="753000" y="509082"/>
                  <a:pt x="761132" y="512915"/>
                  <a:pt x="769740" y="514350"/>
                </a:cubicBezTo>
                <a:cubicBezTo>
                  <a:pt x="781142" y="516250"/>
                  <a:pt x="869192" y="526483"/>
                  <a:pt x="877690" y="527050"/>
                </a:cubicBezTo>
                <a:cubicBezTo>
                  <a:pt x="922092" y="530010"/>
                  <a:pt x="966590" y="531283"/>
                  <a:pt x="1011040" y="533400"/>
                </a:cubicBezTo>
                <a:cubicBezTo>
                  <a:pt x="1444917" y="523539"/>
                  <a:pt x="1197283" y="527050"/>
                  <a:pt x="1753990" y="5270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554991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링크</a:t>
            </a:r>
            <a:endParaRPr lang="en-US" altLang="ko-KR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웹 상에 존재하는 다른 자원과 연결할 때 사용하는 태그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&lt;a </a:t>
            </a:r>
            <a:r>
              <a:rPr lang="en-US" altLang="ko-KR" sz="1600" dirty="0" err="1" smtClean="0"/>
              <a:t>href</a:t>
            </a:r>
            <a:r>
              <a:rPr lang="en-US" altLang="ko-KR" sz="1600" dirty="0" smtClean="0"/>
              <a:t>=“</a:t>
            </a:r>
            <a:r>
              <a:rPr lang="ko-KR" altLang="en-US" sz="1600" smtClean="0"/>
              <a:t>연결할 자원의 </a:t>
            </a:r>
            <a:r>
              <a:rPr lang="ko-KR" altLang="en-US" sz="1600" dirty="0" smtClean="0"/>
              <a:t>경로</a:t>
            </a:r>
            <a:r>
              <a:rPr lang="en-US" altLang="ko-KR" sz="1600" dirty="0" smtClean="0"/>
              <a:t>”&gt;</a:t>
            </a:r>
            <a:r>
              <a:rPr lang="ko-KR" altLang="en-US" sz="1600" dirty="0" err="1" smtClean="0"/>
              <a:t>클릭할메시지</a:t>
            </a:r>
            <a:r>
              <a:rPr lang="en-US" altLang="ko-KR" sz="1600" dirty="0" smtClean="0"/>
              <a:t>&lt;/a&gt;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664</Words>
  <Application>Microsoft Office PowerPoint</Application>
  <PresentationFormat>화면 슬라이드 쇼(4:3)</PresentationFormat>
  <Paragraphs>116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25</cp:revision>
  <dcterms:created xsi:type="dcterms:W3CDTF">2025-10-23T23:43:25Z</dcterms:created>
  <dcterms:modified xsi:type="dcterms:W3CDTF">2025-10-24T03:21:15Z</dcterms:modified>
</cp:coreProperties>
</file>